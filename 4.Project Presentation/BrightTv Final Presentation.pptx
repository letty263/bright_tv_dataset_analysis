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Viewership by Age Group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5B4B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Youth (18-34)</c:v>
                </c:pt>
                <c:pt idx="1">
                  <c:v>Adults (35-54)</c:v>
                </c:pt>
                <c:pt idx="2">
                  <c:v>Children (&lt;18)</c:v>
                </c:pt>
                <c:pt idx="3">
                  <c:v>Seniors (55+)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5524</c:v>
                </c:pt>
                <c:pt idx="1">
                  <c:v>3520</c:v>
                </c:pt>
                <c:pt idx="2">
                  <c:v>532</c:v>
                </c:pt>
                <c:pt idx="3">
                  <c:v>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E2-4738-8F1B-7E424F59A6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4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Sessions by Time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5B4B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2320</c:v>
                </c:pt>
                <c:pt idx="1">
                  <c:v>3667</c:v>
                </c:pt>
                <c:pt idx="2">
                  <c:v>2938</c:v>
                </c:pt>
                <c:pt idx="3">
                  <c:v>916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91-4BFD-8E4B-EABAA06C10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Avg Session Length (minutes)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session (min)</c:v>
                </c:pt>
              </c:strCache>
            </c:strRef>
          </c:tx>
          <c:spPr>
            <a:ln w="381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8.26</c:v>
                </c:pt>
                <c:pt idx="1">
                  <c:v>10.93</c:v>
                </c:pt>
                <c:pt idx="2">
                  <c:v>7.83</c:v>
                </c:pt>
                <c:pt idx="3">
                  <c:v>9.14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7A-45A3-9DFF-2067059A5A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Sessions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5B4BD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4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16A-4136-A0AA-8AE999DE9B58}"/>
              </c:ext>
            </c:extLst>
          </c:dPt>
          <c:dPt>
            <c:idx val="1"/>
            <c:invertIfNegative val="0"/>
            <c:bubble3D val="0"/>
            <c:spPr>
              <a:solidFill>
                <a:srgbClr val="5B4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6A-4136-A0AA-8AE999DE9B58}"/>
              </c:ext>
            </c:extLst>
          </c:dPt>
          <c:dPt>
            <c:idx val="2"/>
            <c:invertIfNegative val="0"/>
            <c:bubble3D val="0"/>
            <c:spPr>
              <a:solidFill>
                <a:srgbClr val="5B4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6A-4136-A0AA-8AE999DE9B58}"/>
              </c:ext>
            </c:extLst>
          </c:dPt>
          <c:dPt>
            <c:idx val="3"/>
            <c:invertIfNegative val="0"/>
            <c:bubble3D val="0"/>
            <c:spPr>
              <a:solidFill>
                <a:srgbClr val="5B4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16A-4136-A0AA-8AE999DE9B58}"/>
              </c:ext>
            </c:extLst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16A-4136-A0AA-8AE999DE9B58}"/>
              </c:ext>
            </c:extLst>
          </c:dPt>
          <c:dPt>
            <c:idx val="5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16A-4136-A0AA-8AE999DE9B58}"/>
              </c:ext>
            </c:extLst>
          </c:dPt>
          <c:dPt>
            <c:idx val="6"/>
            <c:invertIfNegative val="0"/>
            <c:bubble3D val="0"/>
            <c:spPr>
              <a:solidFill>
                <a:srgbClr val="5B4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16A-4136-A0AA-8AE999DE9B5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945</c:v>
                </c:pt>
                <c:pt idx="1">
                  <c:v>1314</c:v>
                </c:pt>
                <c:pt idx="2">
                  <c:v>1518</c:v>
                </c:pt>
                <c:pt idx="3">
                  <c:v>1418</c:v>
                </c:pt>
                <c:pt idx="4">
                  <c:v>1646</c:v>
                </c:pt>
                <c:pt idx="5">
                  <c:v>1605</c:v>
                </c:pt>
                <c:pt idx="6">
                  <c:v>1395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16A-4136-A0AA-8AE999DE9B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Top Content by Views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5B4B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Supersport Live</c:v>
                </c:pt>
                <c:pt idx="1">
                  <c:v>ICC Cricket WC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1592</c:v>
                </c:pt>
                <c:pt idx="1">
                  <c:v>1428</c:v>
                </c:pt>
                <c:pt idx="2">
                  <c:v>1038</c:v>
                </c:pt>
                <c:pt idx="3">
                  <c:v>945</c:v>
                </c:pt>
                <c:pt idx="4">
                  <c:v>886</c:v>
                </c:pt>
                <c:pt idx="5">
                  <c:v>844</c:v>
                </c:pt>
                <c:pt idx="6">
                  <c:v>783</c:v>
                </c:pt>
                <c:pt idx="7">
                  <c:v>710</c:v>
                </c:pt>
                <c:pt idx="8">
                  <c:v>502</c:v>
                </c:pt>
                <c:pt idx="9">
                  <c:v>366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BB-4387-B885-CD9B513A51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4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Sessions by Gender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4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B02-4753-8BC4-33E0F43A969E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02-4753-8BC4-33E0F43A969E}"/>
              </c:ext>
            </c:extLst>
          </c:dPt>
          <c:dPt>
            <c:idx val="2"/>
            <c:bubble3D val="0"/>
            <c:spPr>
              <a:solidFill>
                <a:srgbClr val="5A63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02-4753-8BC4-33E0F43A969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02-4753-8BC4-33E0F43A969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B02-4753-8BC4-33E0F43A969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B02-4753-8BC4-33E0F43A969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8619</c:v>
                </c:pt>
                <c:pt idx="1">
                  <c:v>961</c:v>
                </c:pt>
                <c:pt idx="2">
                  <c:v>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B02-4753-8BC4-33E0F43A9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Age Group × Gender (sessions)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5B4BD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Youth</c:v>
                </c:pt>
                <c:pt idx="1">
                  <c:v>Adults</c:v>
                </c:pt>
                <c:pt idx="2">
                  <c:v>Children</c:v>
                </c:pt>
                <c:pt idx="3">
                  <c:v>Seniors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4823</c:v>
                </c:pt>
                <c:pt idx="1">
                  <c:v>3098</c:v>
                </c:pt>
                <c:pt idx="2">
                  <c:v>461</c:v>
                </c:pt>
                <c:pt idx="3">
                  <c:v>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F-4D75-B36C-7CBFCE4FA2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Youth</c:v>
                </c:pt>
                <c:pt idx="1">
                  <c:v>Adults</c:v>
                </c:pt>
                <c:pt idx="2">
                  <c:v>Children</c:v>
                </c:pt>
                <c:pt idx="3">
                  <c:v>Seniors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553</c:v>
                </c:pt>
                <c:pt idx="1">
                  <c:v>320</c:v>
                </c:pt>
                <c:pt idx="2">
                  <c:v>64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3F-4D75-B36C-7CBFCE4FA2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Avg Session by Race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minutes</c:v>
                </c:pt>
              </c:strCache>
            </c:strRef>
          </c:tx>
          <c:spPr>
            <a:solidFill>
              <a:srgbClr val="3DB5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Indian/Asian</c:v>
                </c:pt>
                <c:pt idx="3">
                  <c:v>White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8.08</c:v>
                </c:pt>
                <c:pt idx="1">
                  <c:v>9.6</c:v>
                </c:pt>
                <c:pt idx="2">
                  <c:v>13.09</c:v>
                </c:pt>
                <c:pt idx="3">
                  <c:v>8.17</c:v>
                </c:pt>
                <c:pt idx="4">
                  <c:v>7.75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F6-49CB-9E94-182479A27C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Sessions by Province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2179720432673189"/>
          <c:y val="0.10128406708595387"/>
          <c:w val="0.70241365425912672"/>
          <c:h val="0.8515985324947589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5B4B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3574</c:v>
                </c:pt>
                <c:pt idx="1">
                  <c:v>1814</c:v>
                </c:pt>
                <c:pt idx="2">
                  <c:v>1145</c:v>
                </c:pt>
                <c:pt idx="3">
                  <c:v>916</c:v>
                </c:pt>
                <c:pt idx="4">
                  <c:v>714</c:v>
                </c:pt>
                <c:pt idx="5">
                  <c:v>678</c:v>
                </c:pt>
                <c:pt idx="6">
                  <c:v>335</c:v>
                </c:pt>
                <c:pt idx="7">
                  <c:v>290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CF-4238-B467-0181E585A0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First Two Minutes Problem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FD8-445A-8E1A-145DB0CE6773}"/>
              </c:ext>
            </c:extLst>
          </c:dPt>
          <c:dPt>
            <c:idx val="1"/>
            <c:bubble3D val="0"/>
            <c:spPr>
              <a:solidFill>
                <a:srgbClr val="5B4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D8-445A-8E1A-145DB0CE6773}"/>
              </c:ext>
            </c:extLst>
          </c:dPt>
          <c:dPt>
            <c:idx val="2"/>
            <c:bubble3D val="0"/>
            <c:spPr>
              <a:solidFill>
                <a:srgbClr val="3DB5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D8-445A-8E1A-145DB0CE6773}"/>
              </c:ext>
            </c:extLst>
          </c:dPt>
          <c:dPt>
            <c:idx val="3"/>
            <c:bubble3D val="0"/>
            <c:spPr>
              <a:solidFill>
                <a:srgbClr val="9B5D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FD8-445A-8E1A-145DB0CE677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FD8-445A-8E1A-145DB0CE677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D8-445A-8E1A-145DB0CE677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FD8-445A-8E1A-145DB0CE677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FD8-445A-8E1A-145DB0CE677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Very Short (&lt;2 min)</c:v>
                </c:pt>
                <c:pt idx="1">
                  <c:v>Short (2–10 min)</c:v>
                </c:pt>
                <c:pt idx="2">
                  <c:v>Medium (10–30 min)</c:v>
                </c:pt>
                <c:pt idx="3">
                  <c:v>Long (30+ min)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6778</c:v>
                </c:pt>
                <c:pt idx="1">
                  <c:v>1603</c:v>
                </c:pt>
                <c:pt idx="2">
                  <c:v>713</c:v>
                </c:pt>
                <c:pt idx="3">
                  <c:v>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FD8-445A-8E1A-145DB0CE67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6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Users by Value Segment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Value</c:v>
                </c:pt>
                <c:pt idx="1">
                  <c:v>Medium Value</c:v>
                </c:pt>
                <c:pt idx="2">
                  <c:v>High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9826</c:v>
                </c:pt>
                <c:pt idx="1">
                  <c:v>14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4D-4C52-9B0C-E9F0A11C5F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4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07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5B4BD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35000" y="4025900"/>
            <a:ext cx="3657600" cy="3657600"/>
          </a:xfrm>
          <a:prstGeom prst="ellipse">
            <a:avLst/>
          </a:prstGeom>
          <a:solidFill>
            <a:srgbClr val="9B5DE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Viewership: who's watching, what works, and where the growth is</a:t>
            </a:r>
            <a:r>
              <a:rPr lang="en-US" sz="18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4572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5120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watched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26480" y="4572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69680" y="4572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869680" y="5120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channels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Overview 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292096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" cy="1097280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Users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20568" y="1485900"/>
            <a:ext cx="2292096" cy="10744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463040"/>
            <a:ext cx="73152" cy="1097280"/>
          </a:xfrm>
          <a:prstGeom prst="rect">
            <a:avLst/>
          </a:prstGeom>
          <a:solidFill>
            <a:srgbClr val="3DB5A8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9,841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20440" y="2057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Sessions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501063" y="1502338"/>
            <a:ext cx="1892033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14416" y="1500562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900928" y="1554480"/>
            <a:ext cx="2968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1,522 hrs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898483" y="201810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Hours watched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16289" y="1500623"/>
            <a:ext cx="2287326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9896" y="1508760"/>
            <a:ext cx="73152" cy="109728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0" name="Text 18"/>
          <p:cNvSpPr/>
          <p:nvPr/>
        </p:nvSpPr>
        <p:spPr>
          <a:xfrm>
            <a:off x="8158026" y="1554480"/>
            <a:ext cx="11637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min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79671" y="1920240"/>
            <a:ext cx="2420888" cy="496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Avg session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1477724542"/>
              </p:ext>
            </p:extLst>
          </p:nvPr>
        </p:nvGraphicFramePr>
        <p:xfrm>
          <a:off x="457200" y="2743200"/>
          <a:ext cx="57607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6400800" y="2713175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28803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83680" y="2765672"/>
            <a:ext cx="4983480" cy="29067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92% of viewing is 18–54. Children and seniors absent. Median session 1.8 min.</a:t>
            </a:r>
          </a:p>
          <a:p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family and senior tiers to expand reach.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3D2468-482F-64A5-05ED-47857E46CB9C}"/>
              </a:ext>
            </a:extLst>
          </p:cNvPr>
          <p:cNvSpPr txBox="1"/>
          <p:nvPr/>
        </p:nvSpPr>
        <p:spPr>
          <a:xfrm>
            <a:off x="0" y="6090033"/>
            <a:ext cx="724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Youth and Adults dominate viewing; Children and Seniors underrepresented. </a:t>
            </a: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25E357E4-1DAE-0F74-F428-4FA242F15A79}"/>
              </a:ext>
            </a:extLst>
          </p:cNvPr>
          <p:cNvSpPr/>
          <p:nvPr/>
        </p:nvSpPr>
        <p:spPr>
          <a:xfrm>
            <a:off x="9991098" y="1481392"/>
            <a:ext cx="193786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</a:t>
            </a:r>
            <a:r>
              <a:rPr lang="en-US" sz="2400" b="1" dirty="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10</a:t>
            </a:r>
          </a:p>
          <a:p>
            <a:r>
              <a:rPr lang="en-US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</a:t>
            </a: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channels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26211FE7-21F6-5176-F98D-B54C702B18AE}"/>
              </a:ext>
            </a:extLst>
          </p:cNvPr>
          <p:cNvSpPr/>
          <p:nvPr/>
        </p:nvSpPr>
        <p:spPr>
          <a:xfrm>
            <a:off x="10277193" y="1518850"/>
            <a:ext cx="73152" cy="1097280"/>
          </a:xfrm>
          <a:prstGeom prst="rect">
            <a:avLst/>
          </a:prstGeom>
          <a:solidFill>
            <a:srgbClr val="9B5DE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Content:</a:t>
            </a:r>
            <a:r>
              <a:rPr lang="en-US" sz="16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5B4B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Sports drives 31% of viewing. Secure long-term rights to protect this anchor.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rgbClr val="5B4B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Engagement collapses in the first two minutes. Redesign the opening experience to extend sessions.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5B4BD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291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Audience is dangerously narrow. Male users outnumber female 8:6:1 children and seniors are absent</a:t>
            </a:r>
          </a:p>
        </p:txBody>
      </p:sp>
      <p:sp>
        <p:nvSpPr>
          <p:cNvPr id="17" name="Text 15"/>
          <p:cNvSpPr/>
          <p:nvPr/>
        </p:nvSpPr>
        <p:spPr>
          <a:xfrm>
            <a:off x="960120" y="3794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365760" cy="365760"/>
          </a:xfrm>
          <a:prstGeom prst="ellipse">
            <a:avLst/>
          </a:prstGeom>
          <a:solidFill>
            <a:srgbClr val="5B4BD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389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Weak Monday and late nights are weak zones. Use programming and campaigns to lift these windows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60120" y="4754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394960"/>
            <a:ext cx="365760" cy="365760"/>
          </a:xfrm>
          <a:prstGeom prst="ellipse">
            <a:avLst/>
          </a:prstGeom>
          <a:solidFill>
            <a:srgbClr val="5B4BD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349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subscriber funnel is broken. Conversion, not acquisition, must be the priority.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0120" y="5715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 of the day patterns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Afternoon dominates; nights are quiet</a:t>
            </a:r>
            <a:r>
              <a:rPr lang="en-US" sz="1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776213615"/>
              </p:ext>
            </p:extLst>
          </p:nvPr>
        </p:nvGraphicFramePr>
        <p:xfrm>
          <a:off x="457200" y="1463040"/>
          <a:ext cx="5760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3865952201"/>
              </p:ext>
            </p:extLst>
          </p:nvPr>
        </p:nvGraphicFramePr>
        <p:xfrm>
          <a:off x="457200" y="4663440"/>
          <a:ext cx="57607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146304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0" y="16002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4BD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Insights &amp; action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583680" y="1965960"/>
            <a:ext cx="4983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endParaRPr lang="en-US" sz="1600" dirty="0">
              <a:solidFill>
                <a:srgbClr val="1A1F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Afternoon is Bright TV's true prime‑time (37% of sessions, longest average duration).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Night is the weakest window (9% of sessions, shorter sessions).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Premiere premium content in the Afternoon.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Night for replays and lighter programming.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push alerts before the Afternoon peak.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Viewing Rhythm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Friday &amp; Saturday peak; Monday is the weak link.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831023691"/>
              </p:ext>
            </p:extLst>
          </p:nvPr>
        </p:nvGraphicFramePr>
        <p:xfrm>
          <a:off x="457200" y="1463040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63040"/>
            <a:ext cx="4251960" cy="48463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6002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4BD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 &amp; action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80960" y="2331720"/>
            <a:ext cx="3886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Fri/Sat = 33% of sessions, Saturday longest duration.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Monday lowest sessions and shortest viewing.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premium or event content on Friday–Saturday.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 “Monday Reset” content block to boost engagement.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solidFill>
                <a:srgbClr val="1A1F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Anchors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Sports anchors the platform — by a wide margin</a:t>
            </a:r>
            <a:r>
              <a:rPr lang="en-US" sz="1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513526183"/>
              </p:ext>
            </p:extLst>
          </p:nvPr>
        </p:nvGraphicFramePr>
        <p:xfrm>
          <a:off x="457200" y="1463040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63040"/>
            <a:ext cx="4251960" cy="48463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6002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4BD9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What to promote</a:t>
            </a:r>
            <a:endParaRPr lang="en-US" sz="2400" dirty="0">
              <a:latin typeface="Times New Roman" panose="02020603050405020304" pitchFamily="18" charset="0"/>
              <a:ea typeface="SimSun-ExtG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80960" y="1965960"/>
            <a:ext cx="3886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2 titles (both sport) = 31% of all views.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ICC Cricket holds attention 17 min on average, the stickiest content on the platform.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sports rights.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Bundle music &amp; sport.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kids tier.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Age &amp; Gender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narrow audience profile creates concentration risk</a:t>
            </a:r>
            <a:r>
              <a:rPr lang="en-US" sz="1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509782480"/>
              </p:ext>
            </p:extLst>
          </p:nvPr>
        </p:nvGraphicFramePr>
        <p:xfrm>
          <a:off x="457200" y="1463040"/>
          <a:ext cx="5029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1868357302"/>
              </p:ext>
            </p:extLst>
          </p:nvPr>
        </p:nvGraphicFramePr>
        <p:xfrm>
          <a:off x="5669280" y="1463040"/>
          <a:ext cx="60807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4389120"/>
            <a:ext cx="6080760" cy="19659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52160" y="4411980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4BD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Audience risk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852160" y="4704588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Male-heavy, youth/adult concentrated. Female, family, senior segments under-served.</a:t>
            </a:r>
          </a:p>
          <a:p>
            <a:pPr lvl="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 Target female viewers with lifestyle/drama. Build family tier.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Focus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the South African audience really lives.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124664531"/>
              </p:ext>
            </p:extLst>
          </p:nvPr>
        </p:nvGraphicFramePr>
        <p:xfrm>
          <a:off x="6080760" y="661778"/>
          <a:ext cx="45720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5672380" y="3177540"/>
            <a:ext cx="6115243" cy="3429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67238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4BD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to focus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672381" y="3200400"/>
            <a:ext cx="58947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Black viewers = 48% of sessions, Indian/Asian viewers stay 13.1 min thus 42% above average.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Gauteng + WC + KZN = 74% of activity.</a:t>
            </a:r>
          </a:p>
          <a:p>
            <a:pPr marL="0" indent="0">
              <a:buNone/>
            </a:pPr>
            <a:endParaRPr lang="en-US" sz="1200" dirty="0">
              <a:solidFill>
                <a:srgbClr val="1A1F36"/>
              </a:solidFill>
              <a:latin typeface="Calibri" pitchFamily="34" charset="0"/>
              <a:cs typeface="Calibri" pitchFamily="34" charset="-120"/>
            </a:endParaRPr>
          </a:p>
          <a:p>
            <a:pPr>
              <a:buNone/>
            </a:pPr>
            <a:r>
              <a:rPr lang="en-US" sz="20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Action: </a:t>
            </a:r>
            <a:endParaRPr lang="en-US" sz="2000" i="1" u="sng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Deepen engagement in top provinces. Grow under-served regions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12" name="Chart 2"/>
          <p:cNvGraphicFramePr/>
          <p:nvPr>
            <p:extLst>
              <p:ext uri="{D42A27DB-BD31-4B8C-83A1-F6EECF244321}">
                <p14:modId xmlns:p14="http://schemas.microsoft.com/office/powerpoint/2010/main" val="884573035"/>
              </p:ext>
            </p:extLst>
          </p:nvPr>
        </p:nvGraphicFramePr>
        <p:xfrm>
          <a:off x="643180" y="1215067"/>
          <a:ext cx="40233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Distribution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sessions &lt;2 min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182729293"/>
              </p:ext>
            </p:extLst>
          </p:nvPr>
        </p:nvGraphicFramePr>
        <p:xfrm>
          <a:off x="457200" y="1463040"/>
          <a:ext cx="5486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094955"/>
            <a:ext cx="5623560" cy="15179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6002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1460715"/>
            <a:ext cx="5440680" cy="17305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69% leave before 2 min</a:t>
            </a:r>
          </a:p>
          <a:p>
            <a:pPr marL="0" indent="0" algn="just">
              <a:buNone/>
            </a:pPr>
            <a:r>
              <a:rPr lang="en-US" sz="2000" i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That's not 'casual viewing' — it's people opening the app, not finding what they want, and leaving</a:t>
            </a:r>
            <a:r>
              <a:rPr lang="en-US" sz="2000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43600" y="3007446"/>
            <a:ext cx="5623560" cy="3246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3191255"/>
            <a:ext cx="5440680" cy="1148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4BD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to fix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43600" y="4022429"/>
            <a:ext cx="5257800" cy="508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Redesign home, auto-preview, surface live sport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Subscriber Funnel Is Broken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99.85% Low Value user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728625935"/>
              </p:ext>
            </p:extLst>
          </p:nvPr>
        </p:nvGraphicFramePr>
        <p:xfrm>
          <a:off x="457200" y="1463040"/>
          <a:ext cx="59436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463040"/>
            <a:ext cx="51663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16002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4BD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Strategy: grow the subscriber base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66560" y="1965960"/>
            <a:ext cx="4800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endParaRPr lang="en-US" sz="1400" dirty="0">
              <a:solidFill>
                <a:srgbClr val="1A1F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99.85% users are Low Value.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Conversion, not acquisition, is the bottleneck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Acquire: Free pass and referral credit.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Activate: Onboarding quiz &amp; day‑2 push.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Upgrade: Tiered bundles &amp; win‑back offer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3" name="Text 1"/>
          <p:cNvSpPr/>
          <p:nvPr/>
        </p:nvSpPr>
        <p:spPr>
          <a:xfrm>
            <a:off x="133285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Action 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Prioritised by impact on retention and subscription growth.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109728" cy="1554480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4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Lock sports rights long-term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Sports = 31% of views and the only content with &gt;15 min sessions. It's the moat — protect it.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63040"/>
            <a:ext cx="109728" cy="15544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866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 the first 2 minutes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86600" y="201168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Redesign home with auto-preview hero + 'continue watching' to attack the 69% drop-off.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3145381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54680"/>
            <a:ext cx="109728" cy="1554480"/>
          </a:xfrm>
          <a:prstGeom prst="rect">
            <a:avLst/>
          </a:prstGeom>
          <a:solidFill>
            <a:srgbClr val="3DB5A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Launch a Family tier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4440" y="37033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Cartoon Network + Boomerang already have audience. Bundle to grow the &lt;18 segment</a:t>
            </a: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15468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154680"/>
            <a:ext cx="109728" cy="155448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8660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Win Mondays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086600" y="37033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Programming block + push campaign to lift the weakest day from 9.6% to 14%.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84048" y="4882741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846320"/>
            <a:ext cx="109728" cy="1554480"/>
          </a:xfrm>
          <a:prstGeom prst="rect">
            <a:avLst/>
          </a:prstGeom>
          <a:solidFill>
            <a:srgbClr val="5B4BD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4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34440" y="4983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Female-audience push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34440" y="53949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Targeted acquisition: lifestyle + drama bundle + influencer partnerships to break the 8.6:1 gender skew</a:t>
            </a: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84632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846320"/>
            <a:ext cx="109728" cy="15544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086600" y="4983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Activation onboarding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86600" y="53949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3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3-question taste quiz + day-2 push notification — convert Low Value users into Medium Value</a:t>
            </a: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4BD9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bottom 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BrightTV doesn't have a traffic problem.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has a first-two-minutes problem.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9CF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 activation, double down on sports, and broaden the demographic — and the Low Value funnel will start moving.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831</Words>
  <Application>Microsoft Office PowerPoint</Application>
  <PresentationFormat>Widescreen</PresentationFormat>
  <Paragraphs>159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 — CEO Briefing</dc:title>
  <dc:subject>PptxGenJS Presentation</dc:subject>
  <dc:creator>PptxGenJS</dc:creator>
  <cp:lastModifiedBy>Letween Tumbare</cp:lastModifiedBy>
  <cp:revision>4</cp:revision>
  <dcterms:created xsi:type="dcterms:W3CDTF">2026-04-18T15:18:34Z</dcterms:created>
  <dcterms:modified xsi:type="dcterms:W3CDTF">2026-04-18T23:58:36Z</dcterms:modified>
</cp:coreProperties>
</file>